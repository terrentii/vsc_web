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6" r:id="rId7"/>
    <p:sldId id="264" r:id="rId8"/>
    <p:sldId id="263" r:id="rId9"/>
    <p:sldId id="265" r:id="rId10"/>
    <p:sldId id="25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3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6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BF8D7-7D65-6B5A-20FC-45B7B3C6B2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C95B847-1229-E977-7F1D-C6A15110FF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94E1AF-2D9F-7B9D-0134-491B8154B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D3D0A5-8143-1E42-6B2F-F0DC97820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75C5CE-2822-E463-79A0-AC4B20A75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047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50BFDF-501E-CBB3-AB5D-3E2F9B0D8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6056F7-0F92-9339-1CD0-3591137DC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11CCCE-F67E-FA4E-B2DA-3231BA838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A4BA3A-B44B-AFC3-CB76-08B52B0C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3CC0A3-F7D3-02B6-DF4C-378803A21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4786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D20008-A163-2388-3C54-D34648A92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E19832-4556-7582-FE17-4E27205F7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C74078-52CE-3BE3-BAF3-63C11B10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E76490-B8D4-C96A-C6CE-800FBE43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4B8182-89D3-0D7E-905E-489FDF886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54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6E6899-8AA3-0356-0BD0-7F0754282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9571AC-ADC0-010B-C47D-718DDDDF5B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28EE0BD-21F4-A35C-0AD4-370E79D42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9B0D078-F929-1847-9453-71E33CE97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89F01EF-AD8E-8AEC-51AD-CCB58D1DD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596FC5-2E9C-B222-C10B-6E53E2B49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18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85ECA9-6E15-8FFC-233E-C4A5FDFE8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5E52EC-929D-81DA-8B50-9670CCA62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E6980AD-E49E-C11E-2054-84453FB426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2F16B41-3715-EC07-AE4B-649EA5B8E9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20427E1-FEF8-1944-9713-413268F3C1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A68142C-863C-F0B7-E575-FFD47CD83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7054372-EADB-A3C3-B4D9-AE7FD497D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7983A0C-BB09-03AB-C5EA-71C6C305D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5870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0CBDF9-3359-7417-D91C-C341FFF81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4E5D99C-BA71-D36A-A565-A6028C1FF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0AC4A7-5FFD-EB1C-44E2-0D9D295E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B282060-9486-180A-80EE-D9B16148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205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B4949EC-EDC5-9F28-3CBF-1AC80EC19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AC10165-C3D3-B601-D5AB-15CC78352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9CC292-BF7E-A6D3-B815-3AA3B263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3095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634D6D-4FF2-4A6B-C7A2-B734114A7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A4EABC-590F-20FA-9B1D-48BB9AB66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49B8E0C-8BC1-A1F2-F90A-7853D94533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ABAAE1D-73EA-DEDB-AD85-02C5F9929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5AD6D13-9E52-3E61-3CE3-03EBEF70C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2D8711-8620-841E-C247-A2DABDB97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735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2521B4-858E-9ACC-4299-82119AB5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9278CA-A354-B9F1-C91E-85349BFA41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B9C392-BC41-0975-B95B-9E50F978DB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FD42EC-C5F0-1D0A-4531-CC10EAEBF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201EF60-EDCC-C006-E01B-0F52BBFA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9360EC-94AB-F2F6-3E48-EA6A156D1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968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8CE643-EEEB-D434-148A-A20B4DDEB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166068D-3720-DD30-80B7-8EB353200F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53C069-F924-5B88-5EB4-818CE4015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DAD187-F775-0F3E-1A48-C78FC5411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62A3E0-C51A-FF99-9C47-03E26298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6858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73CF62E-653D-50BE-5623-9D0EAD4845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110264C-FD97-1F4A-D548-082E8CFC3A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FC9E7C-BBBB-E71E-45F0-25476FDA1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A495F81-5C28-7F3F-E7C6-7EDE2DBA1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A89D488-ACEC-2D36-AC9A-E5F3F4FBA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747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AC7166-B1E9-9A96-B130-AE79D7026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F8C7A9-A374-4AE5-9384-5E029AB29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10355E-F468-A5D3-7260-36285C81C3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89060A-4EA2-42E6-B79A-9F1E311C12CC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242A6E-F361-DC2A-2C25-7B34A40F1C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D23F2D-8464-D8B9-90BA-1889E00E1A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7400B3-52B1-41A8-A531-898DAB6C37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5768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239C9A-3A08-F635-5EE5-209A8F7D97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35660"/>
            <a:ext cx="9144000" cy="937585"/>
          </a:xfrm>
        </p:spPr>
        <p:txBody>
          <a:bodyPr>
            <a:normAutofit/>
          </a:bodyPr>
          <a:lstStyle/>
          <a:p>
            <a:r>
              <a:rPr lang="ru-RU" dirty="0"/>
              <a:t>МЫС Web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979A4A0-22F7-0A64-BD94-AF9C09C2B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76909" y="4964928"/>
            <a:ext cx="5385916" cy="3255962"/>
          </a:xfrm>
        </p:spPr>
        <p:txBody>
          <a:bodyPr>
            <a:normAutofit/>
          </a:bodyPr>
          <a:lstStyle/>
          <a:p>
            <a:pPr algn="l"/>
            <a:endParaRPr lang="en-US" sz="2000" dirty="0"/>
          </a:p>
          <a:p>
            <a:pPr algn="l"/>
            <a:endParaRPr lang="en-US" sz="2000" dirty="0"/>
          </a:p>
          <a:p>
            <a:pPr algn="l"/>
            <a:endParaRPr lang="en-US" sz="2000" dirty="0"/>
          </a:p>
          <a:p>
            <a:pPr algn="l"/>
            <a:endParaRPr lang="en-US" sz="2000" dirty="0"/>
          </a:p>
          <a:p>
            <a:pPr algn="l"/>
            <a:endParaRPr lang="en-US" sz="2000" dirty="0"/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6D510570-CFE7-2380-2E62-C3F5FFB94E5B}"/>
              </a:ext>
            </a:extLst>
          </p:cNvPr>
          <p:cNvSpPr txBox="1">
            <a:spLocks/>
          </p:cNvSpPr>
          <p:nvPr/>
        </p:nvSpPr>
        <p:spPr>
          <a:xfrm>
            <a:off x="6353175" y="4191000"/>
            <a:ext cx="5385916" cy="325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000" dirty="0"/>
              <a:t>Руководитель проекта</a:t>
            </a:r>
            <a:r>
              <a:rPr lang="en-US" sz="2000" dirty="0"/>
              <a:t>:</a:t>
            </a:r>
          </a:p>
          <a:p>
            <a:pPr algn="l"/>
            <a:r>
              <a:rPr lang="ru-RU" sz="2000" dirty="0"/>
              <a:t>Преподаватель ДТ «Альтаир»</a:t>
            </a:r>
          </a:p>
          <a:p>
            <a:pPr algn="l"/>
            <a:r>
              <a:rPr lang="ru-RU" sz="2000" b="1" dirty="0"/>
              <a:t>Борисов Артём Игоревич</a:t>
            </a:r>
          </a:p>
          <a:p>
            <a:pPr algn="l"/>
            <a:endParaRPr lang="ru-RU" sz="2000" dirty="0"/>
          </a:p>
          <a:p>
            <a:pPr algn="l"/>
            <a:endParaRPr lang="ru-RU" sz="20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E4634E3-2BD2-8B0D-E667-DB3C37049497}"/>
              </a:ext>
            </a:extLst>
          </p:cNvPr>
          <p:cNvSpPr/>
          <p:nvPr/>
        </p:nvSpPr>
        <p:spPr>
          <a:xfrm>
            <a:off x="6096000" y="3429001"/>
            <a:ext cx="6096000" cy="342900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FD23FA3-B0CC-BD35-E8FF-CCB6D83622F5}"/>
              </a:ext>
            </a:extLst>
          </p:cNvPr>
          <p:cNvSpPr/>
          <p:nvPr/>
        </p:nvSpPr>
        <p:spPr>
          <a:xfrm>
            <a:off x="0" y="3429001"/>
            <a:ext cx="6096000" cy="342900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E378FD-5F57-D219-7EFB-3202636358CC}"/>
              </a:ext>
            </a:extLst>
          </p:cNvPr>
          <p:cNvSpPr txBox="1"/>
          <p:nvPr/>
        </p:nvSpPr>
        <p:spPr>
          <a:xfrm>
            <a:off x="257175" y="3905250"/>
            <a:ext cx="51287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Деуленко Андрей Анатольевич </a:t>
            </a:r>
          </a:p>
          <a:p>
            <a:r>
              <a:rPr lang="ru-RU" dirty="0"/>
              <a:t>Морозенко Максим Андреевич</a:t>
            </a:r>
          </a:p>
          <a:p>
            <a:r>
              <a:rPr lang="ru-RU" dirty="0"/>
              <a:t>9 класс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2 год 2 группа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4335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104DED-D14F-253E-A336-716915EA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810240-7F2C-895C-477C-F7EF188633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452438" algn="just">
              <a:lnSpc>
                <a:spcPct val="150000"/>
              </a:lnSpc>
              <a:buNone/>
            </a:pPr>
            <a:r>
              <a:rPr lang="ru-RU" sz="2000" dirty="0"/>
              <a:t>Большинство мессенджеров требуют номер телефона или e-mail</a:t>
            </a:r>
          </a:p>
          <a:p>
            <a:pPr marL="0" indent="452438" algn="just">
              <a:lnSpc>
                <a:spcPct val="150000"/>
              </a:lnSpc>
              <a:buNone/>
            </a:pPr>
            <a:r>
              <a:rPr lang="ru-RU" sz="2000" dirty="0"/>
              <a:t>Данные хранятся на серверах третьих сторон — утечки неизбежны</a:t>
            </a:r>
          </a:p>
          <a:p>
            <a:pPr marL="0" indent="452438" algn="just">
              <a:lnSpc>
                <a:spcPct val="150000"/>
              </a:lnSpc>
              <a:buNone/>
            </a:pPr>
            <a:r>
              <a:rPr lang="ru-RU" sz="2000" dirty="0"/>
              <a:t>Нет доступных браузерных инструментов для анонимного общения</a:t>
            </a:r>
          </a:p>
          <a:p>
            <a:pPr marL="0" indent="452438" algn="just">
              <a:lnSpc>
                <a:spcPct val="150000"/>
              </a:lnSpc>
              <a:buNone/>
            </a:pPr>
            <a:endParaRPr lang="ru-RU" sz="2000" dirty="0"/>
          </a:p>
          <a:p>
            <a:pPr marL="0" indent="452438" algn="just">
              <a:lnSpc>
                <a:spcPct val="150000"/>
              </a:lnSpc>
              <a:buNone/>
            </a:pPr>
            <a:r>
              <a:rPr lang="ru-RU" sz="2000" dirty="0"/>
              <a:t>МЫС Web: открыл браузер — уже общаешься.</a:t>
            </a:r>
          </a:p>
          <a:p>
            <a:pPr marL="0" indent="452438" algn="just">
              <a:lnSpc>
                <a:spcPct val="150000"/>
              </a:lnSpc>
              <a:buNone/>
            </a:pPr>
            <a:r>
              <a:rPr lang="ru-RU" sz="2000" dirty="0"/>
              <a:t>Без регистрации. Без данных. Без следов.</a:t>
            </a:r>
          </a:p>
        </p:txBody>
      </p:sp>
      <p:sp>
        <p:nvSpPr>
          <p:cNvPr id="4" name="Google Shape;91;p32">
            <a:extLst>
              <a:ext uri="{FF2B5EF4-FFF2-40B4-BE49-F238E27FC236}">
                <a16:creationId xmlns:a16="http://schemas.microsoft.com/office/drawing/2014/main" id="{75188BF8-F1E2-885B-4D51-3AE651D59456}"/>
              </a:ext>
            </a:extLst>
          </p:cNvPr>
          <p:cNvSpPr/>
          <p:nvPr/>
        </p:nvSpPr>
        <p:spPr>
          <a:xfrm>
            <a:off x="10559347" y="0"/>
            <a:ext cx="1048512" cy="354806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92;p32">
            <a:extLst>
              <a:ext uri="{FF2B5EF4-FFF2-40B4-BE49-F238E27FC236}">
                <a16:creationId xmlns:a16="http://schemas.microsoft.com/office/drawing/2014/main" id="{07EAC0BF-AE43-35B6-46DA-A97923295634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2 / 11</a:t>
            </a:r>
          </a:p>
        </p:txBody>
      </p:sp>
    </p:spTree>
    <p:extLst>
      <p:ext uri="{BB962C8B-B14F-4D97-AF65-F5344CB8AC3E}">
        <p14:creationId xmlns:p14="http://schemas.microsoft.com/office/powerpoint/2010/main" val="144950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104DED-D14F-253E-A336-716915EA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810240-7F2C-895C-477C-F7EF18863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673"/>
            <a:ext cx="10515600" cy="4351338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Цель: создать анонимный веб-мессенджер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с минимальным порогом входа и высоким уровнем безопасности.</a:t>
            </a:r>
          </a:p>
          <a:p>
            <a:pPr marL="0" indent="0">
              <a:lnSpc>
                <a:spcPct val="150000"/>
              </a:lnSpc>
              <a:buNone/>
            </a:pPr>
            <a:endParaRPr lang="ru-RU" sz="2000" b="1" dirty="0"/>
          </a:p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Задачи: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1.  Анонимный доступ без регистрации (AnonN-идентификаторы)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2.  Система открытых / закрытых комнат с ролями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3.  Real-time обмен сообщениями (WebSocket + polling)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4.  Загрузка медиафайлов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b="1" dirty="0"/>
              <a:t>5.  Аудит безопасности и устранение уязвимостей</a:t>
            </a:r>
          </a:p>
        </p:txBody>
      </p:sp>
      <p:sp>
        <p:nvSpPr>
          <p:cNvPr id="4" name="Google Shape;91;p32">
            <a:extLst>
              <a:ext uri="{FF2B5EF4-FFF2-40B4-BE49-F238E27FC236}">
                <a16:creationId xmlns:a16="http://schemas.microsoft.com/office/drawing/2014/main" id="{75188BF8-F1E2-885B-4D51-3AE651D59456}"/>
              </a:ext>
            </a:extLst>
          </p:cNvPr>
          <p:cNvSpPr/>
          <p:nvPr/>
        </p:nvSpPr>
        <p:spPr>
          <a:xfrm>
            <a:off x="10559347" y="0"/>
            <a:ext cx="1048512" cy="354806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92;p32">
            <a:extLst>
              <a:ext uri="{FF2B5EF4-FFF2-40B4-BE49-F238E27FC236}">
                <a16:creationId xmlns:a16="http://schemas.microsoft.com/office/drawing/2014/main" id="{07EAC0BF-AE43-35B6-46DA-A97923295634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3 / 11</a:t>
            </a:r>
          </a:p>
        </p:txBody>
      </p:sp>
    </p:spTree>
    <p:extLst>
      <p:ext uri="{BB962C8B-B14F-4D97-AF65-F5344CB8AC3E}">
        <p14:creationId xmlns:p14="http://schemas.microsoft.com/office/powerpoint/2010/main" val="665354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104DED-D14F-253E-A336-716915EA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</a:t>
            </a:r>
          </a:p>
        </p:txBody>
      </p:sp>
      <p:sp>
        <p:nvSpPr>
          <p:cNvPr id="4" name="Google Shape;91;p32">
            <a:extLst>
              <a:ext uri="{FF2B5EF4-FFF2-40B4-BE49-F238E27FC236}">
                <a16:creationId xmlns:a16="http://schemas.microsoft.com/office/drawing/2014/main" id="{75188BF8-F1E2-885B-4D51-3AE651D59456}"/>
              </a:ext>
            </a:extLst>
          </p:cNvPr>
          <p:cNvSpPr/>
          <p:nvPr/>
        </p:nvSpPr>
        <p:spPr>
          <a:xfrm>
            <a:off x="10559347" y="0"/>
            <a:ext cx="1048512" cy="354806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92;p32">
            <a:extLst>
              <a:ext uri="{FF2B5EF4-FFF2-40B4-BE49-F238E27FC236}">
                <a16:creationId xmlns:a16="http://schemas.microsoft.com/office/drawing/2014/main" id="{07EAC0BF-AE43-35B6-46DA-A97923295634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5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837943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Три</a:t>
            </a:r>
            <a:r>
              <a:rPr dirty="0"/>
              <a:t> Blueprint-а:</a:t>
            </a:r>
          </a:p>
          <a:p>
            <a:r>
              <a:rPr dirty="0"/>
              <a:t>   auth      — </a:t>
            </a:r>
            <a:r>
              <a:rPr dirty="0" err="1"/>
              <a:t>регистрация</a:t>
            </a:r>
            <a:r>
              <a:rPr dirty="0"/>
              <a:t>, </a:t>
            </a:r>
            <a:r>
              <a:rPr dirty="0" err="1"/>
              <a:t>вход</a:t>
            </a:r>
            <a:r>
              <a:rPr dirty="0"/>
              <a:t>, </a:t>
            </a:r>
            <a:r>
              <a:rPr dirty="0" err="1"/>
              <a:t>выход</a:t>
            </a:r>
            <a:endParaRPr dirty="0"/>
          </a:p>
          <a:p>
            <a:r>
              <a:rPr dirty="0"/>
              <a:t>   rooms    — </a:t>
            </a:r>
            <a:r>
              <a:rPr dirty="0" err="1"/>
              <a:t>комнаты</a:t>
            </a:r>
            <a:r>
              <a:rPr dirty="0"/>
              <a:t>, </a:t>
            </a:r>
            <a:r>
              <a:rPr dirty="0" err="1"/>
              <a:t>сообщения</a:t>
            </a:r>
            <a:r>
              <a:rPr dirty="0"/>
              <a:t>, </a:t>
            </a:r>
            <a:r>
              <a:rPr dirty="0" err="1"/>
              <a:t>медиафайлы</a:t>
            </a:r>
            <a:endParaRPr dirty="0"/>
          </a:p>
          <a:p>
            <a:r>
              <a:rPr dirty="0"/>
              <a:t>   </a:t>
            </a:r>
            <a:r>
              <a:rPr dirty="0" err="1"/>
              <a:t>api</a:t>
            </a:r>
            <a:r>
              <a:rPr dirty="0"/>
              <a:t>         — REST API с </a:t>
            </a:r>
            <a:r>
              <a:rPr dirty="0" err="1"/>
              <a:t>ключами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ботов</a:t>
            </a:r>
            <a:endParaRPr dirty="0"/>
          </a:p>
          <a:p>
            <a:endParaRPr dirty="0"/>
          </a:p>
          <a:p>
            <a:r>
              <a:rPr dirty="0"/>
              <a:t>Real-time: WebSocket (Socket.IO)  +  HTTP-polling </a:t>
            </a:r>
            <a:r>
              <a:rPr u="sng" dirty="0"/>
              <a:t>fallback</a:t>
            </a:r>
            <a:r>
              <a:rPr dirty="0"/>
              <a:t> </a:t>
            </a:r>
            <a:r>
              <a:rPr dirty="0" err="1"/>
              <a:t>каждые</a:t>
            </a:r>
            <a:r>
              <a:rPr dirty="0"/>
              <a:t> 3 с</a:t>
            </a:r>
            <a:endParaRPr lang="ru-RU" dirty="0"/>
          </a:p>
          <a:p>
            <a:endParaRPr dirty="0"/>
          </a:p>
          <a:p>
            <a:r>
              <a:rPr dirty="0" err="1"/>
              <a:t>Хранение</a:t>
            </a:r>
            <a:r>
              <a:rPr dirty="0"/>
              <a:t>: SQLite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SQLAlchemy</a:t>
            </a:r>
            <a:r>
              <a:rPr dirty="0"/>
              <a:t> ORM</a:t>
            </a:r>
            <a:endParaRPr lang="ru-RU" dirty="0"/>
          </a:p>
          <a:p>
            <a:endParaRPr dirty="0"/>
          </a:p>
          <a:p>
            <a:r>
              <a:rPr dirty="0" err="1"/>
              <a:t>Сессии</a:t>
            </a:r>
            <a:r>
              <a:rPr dirty="0"/>
              <a:t>: server-side filesystem (Flask-Session)</a:t>
            </a:r>
            <a:endParaRPr lang="ru-RU" dirty="0"/>
          </a:p>
          <a:p>
            <a:endParaRPr dirty="0"/>
          </a:p>
          <a:p>
            <a:r>
              <a:rPr dirty="0" err="1"/>
              <a:t>Медиа</a:t>
            </a:r>
            <a:r>
              <a:rPr dirty="0"/>
              <a:t>: UUID-</a:t>
            </a:r>
            <a:r>
              <a:rPr dirty="0" err="1"/>
              <a:t>префикс</a:t>
            </a:r>
            <a:r>
              <a:rPr dirty="0"/>
              <a:t> + whitelist MIME → rooms/&lt;id&gt;/media/</a:t>
            </a:r>
          </a:p>
        </p:txBody>
      </p:sp>
    </p:spTree>
    <p:extLst>
      <p:ext uri="{BB962C8B-B14F-4D97-AF65-F5344CB8AC3E}">
        <p14:creationId xmlns:p14="http://schemas.microsoft.com/office/powerpoint/2010/main" val="1983467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104DED-D14F-253E-A336-716915EA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810240-7F2C-895C-477C-F7EF18863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673"/>
            <a:ext cx="10515600" cy="4351338"/>
          </a:xfrm>
        </p:spPr>
        <p:txBody>
          <a:bodyPr>
            <a:normAutofit fontScale="700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Анонимный вход — без регистрации, авто-ID: Anon1, Anon2 …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Открытые / закрытые комнаты с ролями (Прародитель / Участник)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Личная комната «Избранное» для каждого аккаунта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Real-time чат: WebSocket с fallback на polling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Загрузка файлов до 5 ГБ (изображения, видео, документы)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Редактирование и удаление своих сообщений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Ответы на сообщения (reply)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REST API с ключами для ботов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Тёмная / светлая тема без мигания при загрузке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Push-уведомления через Service Worker</a:t>
            </a:r>
          </a:p>
        </p:txBody>
      </p:sp>
      <p:sp>
        <p:nvSpPr>
          <p:cNvPr id="7" name="Google Shape;91;p32">
            <a:extLst>
              <a:ext uri="{FF2B5EF4-FFF2-40B4-BE49-F238E27FC236}">
                <a16:creationId xmlns:a16="http://schemas.microsoft.com/office/drawing/2014/main" id="{D9A9185A-CA8B-796F-7265-26922E58FA53}"/>
              </a:ext>
            </a:extLst>
          </p:cNvPr>
          <p:cNvSpPr/>
          <p:nvPr/>
        </p:nvSpPr>
        <p:spPr>
          <a:xfrm>
            <a:off x="10559347" y="0"/>
            <a:ext cx="1048512" cy="354806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92;p32">
            <a:extLst>
              <a:ext uri="{FF2B5EF4-FFF2-40B4-BE49-F238E27FC236}">
                <a16:creationId xmlns:a16="http://schemas.microsoft.com/office/drawing/2014/main" id="{33E0BDFA-652A-405A-ACED-7FB9D2BD8F9B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6 / 11</a:t>
            </a:r>
          </a:p>
        </p:txBody>
      </p:sp>
    </p:spTree>
    <p:extLst>
      <p:ext uri="{BB962C8B-B14F-4D97-AF65-F5344CB8AC3E}">
        <p14:creationId xmlns:p14="http://schemas.microsoft.com/office/powerpoint/2010/main" val="4190888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Безопасность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t>Аутентификация и сессии:</a:t>
            </a:r>
          </a:p>
          <a:p>
            <a:r>
              <a:t>  HMAC-подписанные анонимные cookie (генерируются только сервером)</a:t>
            </a:r>
          </a:p>
          <a:p>
            <a:r>
              <a:t>  Защита от Session Fixation — регенерация ID при каждом входе</a:t>
            </a:r>
          </a:p>
          <a:p>
            <a:r>
              <a:t>  Хеширование паролей — PBKDF2-SHA256 (Werkzeug)</a:t>
            </a:r>
          </a:p>
          <a:p>
            <a:r>
              <a:t>  Rate-limit входа: 5 попыток / 10 минут с одного IP</a:t>
            </a:r>
          </a:p>
          <a:p>
            <a:endParaRPr/>
          </a:p>
          <a:p>
            <a:r>
              <a:t>CSRF и файлы:</a:t>
            </a:r>
          </a:p>
          <a:p>
            <a:r>
              <a:t>  CSRF-токены на всех формах и API-эндпоинтах</a:t>
            </a:r>
          </a:p>
          <a:p>
            <a:r>
              <a:t>  Whitelist MIME-типов + привязка к расширению файла</a:t>
            </a:r>
          </a:p>
          <a:p>
            <a:r>
              <a:t>  Content-Disposition: attachment для не-медиа файлов</a:t>
            </a:r>
          </a:p>
          <a:p>
            <a:endParaRPr/>
          </a:p>
          <a:p>
            <a:r>
              <a:t>HTTP-заголовки:</a:t>
            </a:r>
          </a:p>
          <a:p>
            <a:r>
              <a:t>  Content-Security-Policy  ·  X-Frame-Options: DENY</a:t>
            </a:r>
          </a:p>
          <a:p>
            <a:r>
              <a:t>  X-Content-Type-Options: nosniff  ·  HSTS  ·  Referrer-Policy</a:t>
            </a:r>
          </a:p>
          <a:p>
            <a:r>
              <a:t>  Socket.IO CORS: same-origin only</a:t>
            </a:r>
          </a:p>
        </p:txBody>
      </p:sp>
      <p:sp>
        <p:nvSpPr>
          <p:cNvPr id="8" name="Google Shape;92;p32">
            <a:extLst>
              <a:ext uri="{FF2B5EF4-FFF2-40B4-BE49-F238E27FC236}">
                <a16:creationId xmlns:a16="http://schemas.microsoft.com/office/drawing/2014/main" id="{33E0BDFA-652A-405A-ACED-7FB9D2BD8F9B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104DED-D14F-253E-A336-716915EA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Демонстрационное видео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810240-7F2C-895C-477C-F7EF18863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673"/>
            <a:ext cx="10515600" cy="4351338"/>
          </a:xfrm>
        </p:spPr>
        <p:txBody>
          <a:bodyPr>
            <a:noAutofit/>
          </a:bodyPr>
          <a:lstStyle/>
          <a:p>
            <a:pPr marL="0" indent="0" algn="just">
              <a:lnSpc>
                <a:spcPct val="170000"/>
              </a:lnSpc>
              <a:buNone/>
            </a:pPr>
            <a:r>
              <a:rPr lang="ru-RU" sz="2000" i="1" dirty="0"/>
              <a:t>[ Видео будет добавлено перед выступлением ]</a:t>
            </a:r>
          </a:p>
          <a:p>
            <a:pPr marL="0" indent="0" algn="just">
              <a:lnSpc>
                <a:spcPct val="170000"/>
              </a:lnSpc>
              <a:buNone/>
            </a:pPr>
            <a:endParaRPr lang="ru-RU" sz="2000" i="1" dirty="0"/>
          </a:p>
          <a:p>
            <a:pPr marL="0" indent="0" algn="just">
              <a:lnSpc>
                <a:spcPct val="170000"/>
              </a:lnSpc>
              <a:buNone/>
            </a:pPr>
            <a:r>
              <a:rPr lang="ru-RU" sz="2000" i="1" dirty="0"/>
              <a:t>В демо показано:</a:t>
            </a:r>
          </a:p>
          <a:p>
            <a:pPr marL="0" indent="0" algn="just">
              <a:lnSpc>
                <a:spcPct val="170000"/>
              </a:lnSpc>
              <a:buNone/>
            </a:pPr>
            <a:r>
              <a:rPr lang="ru-RU" sz="2000" i="1" dirty="0"/>
              <a:t>  — Анонимный вход и получение AnonN-ID</a:t>
            </a:r>
          </a:p>
          <a:p>
            <a:pPr marL="0" indent="0" algn="just">
              <a:lnSpc>
                <a:spcPct val="170000"/>
              </a:lnSpc>
              <a:buNone/>
            </a:pPr>
            <a:r>
              <a:rPr lang="ru-RU" sz="2000" i="1" dirty="0"/>
              <a:t>  — Создание открытой и закрытой комнаты</a:t>
            </a:r>
          </a:p>
          <a:p>
            <a:pPr marL="0" indent="0" algn="just">
              <a:lnSpc>
                <a:spcPct val="170000"/>
              </a:lnSpc>
              <a:buNone/>
            </a:pPr>
            <a:r>
              <a:rPr lang="ru-RU" sz="2000" i="1" dirty="0"/>
              <a:t>  — Real-time обмен сообщениями</a:t>
            </a:r>
          </a:p>
          <a:p>
            <a:pPr marL="0" indent="0" algn="just">
              <a:lnSpc>
                <a:spcPct val="170000"/>
              </a:lnSpc>
              <a:buNone/>
            </a:pPr>
            <a:r>
              <a:rPr lang="ru-RU" sz="2000" i="1" dirty="0"/>
              <a:t>  — Загрузка медиафайла</a:t>
            </a:r>
          </a:p>
          <a:p>
            <a:pPr marL="0" indent="0" algn="just">
              <a:lnSpc>
                <a:spcPct val="170000"/>
              </a:lnSpc>
              <a:buNone/>
            </a:pPr>
            <a:r>
              <a:rPr lang="ru-RU" sz="2000" i="1" dirty="0"/>
              <a:t>  — Переключение тёмной темы</a:t>
            </a:r>
          </a:p>
        </p:txBody>
      </p:sp>
      <p:sp>
        <p:nvSpPr>
          <p:cNvPr id="7" name="Google Shape;91;p32">
            <a:extLst>
              <a:ext uri="{FF2B5EF4-FFF2-40B4-BE49-F238E27FC236}">
                <a16:creationId xmlns:a16="http://schemas.microsoft.com/office/drawing/2014/main" id="{D9A9185A-CA8B-796F-7265-26922E58FA53}"/>
              </a:ext>
            </a:extLst>
          </p:cNvPr>
          <p:cNvSpPr/>
          <p:nvPr/>
        </p:nvSpPr>
        <p:spPr>
          <a:xfrm>
            <a:off x="10559347" y="0"/>
            <a:ext cx="1048512" cy="354806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92;p32">
            <a:extLst>
              <a:ext uri="{FF2B5EF4-FFF2-40B4-BE49-F238E27FC236}">
                <a16:creationId xmlns:a16="http://schemas.microsoft.com/office/drawing/2014/main" id="{33E0BDFA-652A-405A-ACED-7FB9D2BD8F9B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8 / 11</a:t>
            </a:r>
          </a:p>
        </p:txBody>
      </p:sp>
    </p:spTree>
    <p:extLst>
      <p:ext uri="{BB962C8B-B14F-4D97-AF65-F5344CB8AC3E}">
        <p14:creationId xmlns:p14="http://schemas.microsoft.com/office/powerpoint/2010/main" val="2241011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104DED-D14F-253E-A336-716915EA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810240-7F2C-895C-477C-F7EF18863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673"/>
            <a:ext cx="10515600" cy="4351338"/>
          </a:xfrm>
        </p:spPr>
        <p:txBody>
          <a:bodyPr>
            <a:normAutofit fontScale="85000" lnSpcReduction="1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Что реализовано: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  Полностью рабочий анонимный мессенджер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  Закрыто 13 уязвимостей в ходе аудита безопасности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  REST API для интеграции ботов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ru-RU" sz="2000" i="1" dirty="0"/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Планы развития: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ru-RU" sz="2000" i="1" dirty="0"/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Мобильная PWA-версия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  </a:t>
            </a:r>
          </a:p>
        </p:txBody>
      </p:sp>
      <p:sp>
        <p:nvSpPr>
          <p:cNvPr id="4" name="Google Shape;91;p32">
            <a:extLst>
              <a:ext uri="{FF2B5EF4-FFF2-40B4-BE49-F238E27FC236}">
                <a16:creationId xmlns:a16="http://schemas.microsoft.com/office/drawing/2014/main" id="{75188BF8-F1E2-885B-4D51-3AE651D59456}"/>
              </a:ext>
            </a:extLst>
          </p:cNvPr>
          <p:cNvSpPr/>
          <p:nvPr/>
        </p:nvSpPr>
        <p:spPr>
          <a:xfrm>
            <a:off x="10559347" y="0"/>
            <a:ext cx="1048512" cy="354806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92;p32">
            <a:extLst>
              <a:ext uri="{FF2B5EF4-FFF2-40B4-BE49-F238E27FC236}">
                <a16:creationId xmlns:a16="http://schemas.microsoft.com/office/drawing/2014/main" id="{07EAC0BF-AE43-35B6-46DA-A97923295634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9 / 11</a:t>
            </a:r>
          </a:p>
        </p:txBody>
      </p:sp>
    </p:spTree>
    <p:extLst>
      <p:ext uri="{BB962C8B-B14F-4D97-AF65-F5344CB8AC3E}">
        <p14:creationId xmlns:p14="http://schemas.microsoft.com/office/powerpoint/2010/main" val="4228362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104DED-D14F-253E-A336-716915EA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использованных источников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810240-7F2C-895C-477C-F7EF18863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673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1.  Flask Documentation — flask.palletsprojects.com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2.  Flask-SocketIO — flask-socketio.readthedocs.io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3.  SQLAlchemy ORM — docs.sqlalchemy.org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4.  OWASP Top 10 (2021) — owasp.org/Top10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5.  Flask-WTF / CSRF — flask-wtf.readthedocs.io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6.  Werkzeug Security — werkzeug.palletsprojects.com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7.  MDN: Content-Security-Policy — developer.mozilla.org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000" i="1" dirty="0"/>
              <a:t>8.  Python Secrets — docs.python.org/3/library/secrets.html</a:t>
            </a:r>
          </a:p>
        </p:txBody>
      </p:sp>
      <p:sp>
        <p:nvSpPr>
          <p:cNvPr id="4" name="Google Shape;91;p32">
            <a:extLst>
              <a:ext uri="{FF2B5EF4-FFF2-40B4-BE49-F238E27FC236}">
                <a16:creationId xmlns:a16="http://schemas.microsoft.com/office/drawing/2014/main" id="{75188BF8-F1E2-885B-4D51-3AE651D59456}"/>
              </a:ext>
            </a:extLst>
          </p:cNvPr>
          <p:cNvSpPr/>
          <p:nvPr/>
        </p:nvSpPr>
        <p:spPr>
          <a:xfrm>
            <a:off x="10559347" y="0"/>
            <a:ext cx="1048512" cy="354806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92;p32">
            <a:extLst>
              <a:ext uri="{FF2B5EF4-FFF2-40B4-BE49-F238E27FC236}">
                <a16:creationId xmlns:a16="http://schemas.microsoft.com/office/drawing/2014/main" id="{07EAC0BF-AE43-35B6-46DA-A97923295634}"/>
              </a:ext>
            </a:extLst>
          </p:cNvPr>
          <p:cNvSpPr txBox="1">
            <a:spLocks/>
          </p:cNvSpPr>
          <p:nvPr/>
        </p:nvSpPr>
        <p:spPr>
          <a:xfrm>
            <a:off x="10559347" y="29972"/>
            <a:ext cx="1048511" cy="2748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1800" b="1" dirty="0">
                <a:solidFill>
                  <a:schemeClr val="lt2"/>
                </a:solidFill>
              </a:rPr>
              <a:t>10 / 11</a:t>
            </a:r>
          </a:p>
        </p:txBody>
      </p:sp>
    </p:spTree>
    <p:extLst>
      <p:ext uri="{BB962C8B-B14F-4D97-AF65-F5344CB8AC3E}">
        <p14:creationId xmlns:p14="http://schemas.microsoft.com/office/powerpoint/2010/main" val="2945751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239C9A-3A08-F635-5EE5-209A8F7D97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28127"/>
            <a:ext cx="9144000" cy="967694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979A4A0-22F7-0A64-BD94-AF9C09C2B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29873"/>
            <a:ext cx="9144000" cy="2461845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ru-RU" dirty="0"/>
              <a:t>Почта:</a:t>
            </a:r>
            <a:endParaRPr lang="en-US" dirty="0"/>
          </a:p>
          <a:p>
            <a:pPr algn="l"/>
            <a:r>
              <a:rPr lang="en-US" dirty="0"/>
              <a:t>terrentii@vk.com</a:t>
            </a:r>
            <a:endParaRPr lang="ru-RU" dirty="0"/>
          </a:p>
          <a:p>
            <a:pPr algn="l"/>
            <a:endParaRPr lang="ru-RU" dirty="0"/>
          </a:p>
          <a:p>
            <a:pPr algn="l"/>
            <a:r>
              <a:rPr lang="ru-RU" dirty="0"/>
              <a:t>GitHub:</a:t>
            </a:r>
          </a:p>
          <a:p>
            <a:pPr algn="l"/>
            <a:r>
              <a:rPr lang="ru-RU" dirty="0"/>
              <a:t>github.com/terrentii/vsc_web</a:t>
            </a:r>
          </a:p>
          <a:p>
            <a:pPr algn="l"/>
            <a:endParaRPr lang="ru-RU" dirty="0"/>
          </a:p>
          <a:p>
            <a:pPr algn="l"/>
            <a:r>
              <a:rPr lang="ru-RU" dirty="0"/>
              <a:t>Попробуй сам:</a:t>
            </a:r>
          </a:p>
          <a:p>
            <a:pPr algn="l"/>
            <a:r>
              <a:rPr lang="ru-RU" dirty="0"/>
              <a:t>  </a:t>
            </a:r>
            <a:r>
              <a:rPr lang="en-US" dirty="0"/>
              <a:t>https://soufos.ru/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06045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592</Words>
  <Application>Microsoft Office PowerPoint</Application>
  <PresentationFormat>Widescreen</PresentationFormat>
  <Paragraphs>115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Тема Office</vt:lpstr>
      <vt:lpstr>МЫС Web</vt:lpstr>
      <vt:lpstr>Актуальность</vt:lpstr>
      <vt:lpstr>Цели и задачи</vt:lpstr>
      <vt:lpstr>Архитектура</vt:lpstr>
      <vt:lpstr>Функционал</vt:lpstr>
      <vt:lpstr>Безопасность</vt:lpstr>
      <vt:lpstr>Демонстрационное видео</vt:lpstr>
      <vt:lpstr>Выводы</vt:lpstr>
      <vt:lpstr>Список использованных источников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проекта</dc:title>
  <dc:creator>Артём борисов</dc:creator>
  <cp:lastModifiedBy>terrentii</cp:lastModifiedBy>
  <cp:revision>14</cp:revision>
  <dcterms:created xsi:type="dcterms:W3CDTF">2025-11-21T19:20:54Z</dcterms:created>
  <dcterms:modified xsi:type="dcterms:W3CDTF">2026-05-13T09:04:43Z</dcterms:modified>
</cp:coreProperties>
</file>